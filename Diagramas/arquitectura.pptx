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5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lin Benjamin Bonilla Frutos" userId="1a473cd2-5b9a-41db-a0e0-c4da5125eac5" providerId="ADAL" clId="{E07E54B0-6EAC-4867-8440-D2FBF958728D}"/>
    <pc:docChg chg="undo custSel modSld">
      <pc:chgData name="Stalin Benjamin Bonilla Frutos" userId="1a473cd2-5b9a-41db-a0e0-c4da5125eac5" providerId="ADAL" clId="{E07E54B0-6EAC-4867-8440-D2FBF958728D}" dt="2026-04-20T20:32:03.375" v="8" actId="1036"/>
      <pc:docMkLst>
        <pc:docMk/>
      </pc:docMkLst>
      <pc:sldChg chg="modSp mod">
        <pc:chgData name="Stalin Benjamin Bonilla Frutos" userId="1a473cd2-5b9a-41db-a0e0-c4da5125eac5" providerId="ADAL" clId="{E07E54B0-6EAC-4867-8440-D2FBF958728D}" dt="2026-04-20T20:32:03.375" v="8" actId="1036"/>
        <pc:sldMkLst>
          <pc:docMk/>
          <pc:sldMk cId="0" sldId="258"/>
        </pc:sldMkLst>
        <pc:spChg chg="mod">
          <ac:chgData name="Stalin Benjamin Bonilla Frutos" userId="1a473cd2-5b9a-41db-a0e0-c4da5125eac5" providerId="ADAL" clId="{E07E54B0-6EAC-4867-8440-D2FBF958728D}" dt="2026-04-20T20:17:26.303" v="1" actId="122"/>
          <ac:spMkLst>
            <pc:docMk/>
            <pc:sldMk cId="0" sldId="258"/>
            <ac:spMk id="8" creationId="{00000000-0000-0000-0000-000000000000}"/>
          </ac:spMkLst>
        </pc:spChg>
        <pc:spChg chg="mod">
          <ac:chgData name="Stalin Benjamin Bonilla Frutos" userId="1a473cd2-5b9a-41db-a0e0-c4da5125eac5" providerId="ADAL" clId="{E07E54B0-6EAC-4867-8440-D2FBF958728D}" dt="2026-04-20T20:26:14.380" v="3" actId="122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talin Benjamin Bonilla Frutos" userId="1a473cd2-5b9a-41db-a0e0-c4da5125eac5" providerId="ADAL" clId="{E07E54B0-6EAC-4867-8440-D2FBF958728D}" dt="2026-04-20T20:26:59.015" v="5" actId="122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talin Benjamin Bonilla Frutos" userId="1a473cd2-5b9a-41db-a0e0-c4da5125eac5" providerId="ADAL" clId="{E07E54B0-6EAC-4867-8440-D2FBF958728D}" dt="2026-04-20T20:28:30.530" v="7" actId="122"/>
          <ac:spMkLst>
            <pc:docMk/>
            <pc:sldMk cId="0" sldId="258"/>
            <ac:spMk id="20" creationId="{00000000-0000-0000-0000-000000000000}"/>
          </ac:spMkLst>
        </pc:spChg>
        <pc:spChg chg="mod">
          <ac:chgData name="Stalin Benjamin Bonilla Frutos" userId="1a473cd2-5b9a-41db-a0e0-c4da5125eac5" providerId="ADAL" clId="{E07E54B0-6EAC-4867-8440-D2FBF958728D}" dt="2026-04-20T20:32:03.375" v="8" actId="1036"/>
          <ac:spMkLst>
            <pc:docMk/>
            <pc:sldMk cId="0" sldId="258"/>
            <ac:spMk id="2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2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Plataforma de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38BDF8"/>
                </a:solidFill>
              </a:rPr>
              <a:t>Industria Automotriz — Ecuador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63240"/>
            <a:ext cx="73152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8"/>
                </a:solidFill>
              </a:rPr>
              <a:t>Arquitectura de la Aplicación S&amp;OP
Fuentes de datos · Procesos · Modelos ML · Salidas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A"/>
                </a:solidFill>
              </a:rPr>
              <a:t>Abril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Contenido de la 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1344168"/>
            <a:ext cx="27432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3990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Fuentes de Datos e Ingesta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30552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84FC"/>
                </a:solidFill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2240280"/>
            <a:ext cx="27432" cy="5029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2951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Arquitectura de la Base de Datos (PostgreSQL)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26664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136392"/>
            <a:ext cx="27432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1912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Drivers Macroeconómicos (25 variables)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22776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923C"/>
                </a:solidFill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032504"/>
            <a:ext cx="27432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0873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Pipeline Completo de Forecast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18888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923C"/>
                </a:solidFill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4928616"/>
            <a:ext cx="27432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9834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Motor de ML — Features &amp; Modelos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15000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824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B923C"/>
                </a:solidFill>
              </a:rPr>
              <a:t>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1560" y="5824728"/>
            <a:ext cx="27432" cy="502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58795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Walk-Forward Cross-Validation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234440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87171"/>
                </a:solidFill>
              </a:rPr>
              <a:t>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1344168"/>
            <a:ext cx="27432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13990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Forecast Final y Desagregación Top-Down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130552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2240280"/>
            <a:ext cx="27432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95160" y="229514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Módulos de la Aplicación Streamlit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026664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3136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</a:rPr>
              <a:t>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3136392"/>
            <a:ext cx="27432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95160" y="31912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Flujo del Proceso S&amp;OP (3 pestañas)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22776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0325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87171"/>
                </a:solidFill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20" y="4032504"/>
            <a:ext cx="27432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95160" y="408736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Dashboard Principal — Salidas Clave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818888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49286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084FC"/>
                </a:solidFill>
              </a:rPr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03720" y="4928616"/>
            <a:ext cx="27432" cy="5029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5160" y="49834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Autenticación y Seguridad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5715000"/>
            <a:ext cx="5577840" cy="749808"/>
          </a:xfrm>
          <a:prstGeom prst="rect">
            <a:avLst/>
          </a:prstGeom>
          <a:solidFill>
            <a:srgbClr val="14283E"/>
          </a:solidFill>
          <a:ln w="1016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5824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0C4D8"/>
                </a:solidFill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03720" y="5824728"/>
            <a:ext cx="27432" cy="50292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95160" y="58795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Estructura de Archivos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01 · Fuentes de Datos e Ingesta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Archivos Excel → Scripts de carga → Base de Datos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137160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234440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4ADE80"/>
                </a:solidFill>
              </a:rPr>
              <a:t>📊 industria.xlsx — Ventas </a:t>
            </a:r>
            <a:r>
              <a:rPr sz="1200" b="1" i="0" dirty="0" err="1">
                <a:solidFill>
                  <a:srgbClr val="4ADE80"/>
                </a:solidFill>
              </a:rPr>
              <a:t>Granulares</a:t>
            </a:r>
            <a:endParaRPr sz="1200" b="1" i="0" dirty="0">
              <a:solidFill>
                <a:srgbClr val="4ADE8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8912" y="1490472"/>
            <a:ext cx="3511296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" y="1517904"/>
            <a:ext cx="351129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B0C4D8"/>
                </a:solidFill>
              </a:rPr>
              <a:t>Fecha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proceso</a:t>
            </a:r>
            <a:r>
              <a:rPr sz="1050" b="0" i="0" dirty="0">
                <a:solidFill>
                  <a:srgbClr val="B0C4D8"/>
                </a:solidFill>
              </a:rPr>
              <a:t>, </a:t>
            </a:r>
            <a:r>
              <a:rPr sz="1050" b="0" i="0" dirty="0" err="1">
                <a:solidFill>
                  <a:srgbClr val="B0C4D8"/>
                </a:solidFill>
              </a:rPr>
              <a:t>Segmento</a:t>
            </a:r>
            <a:r>
              <a:rPr sz="1050" b="0" i="0" dirty="0">
                <a:solidFill>
                  <a:srgbClr val="B0C4D8"/>
                </a:solidFill>
              </a:rPr>
              <a:t>, Marca, Modelo
Familia, Provincia, Tipo combustible
País (Origen), Tipo </a:t>
            </a:r>
            <a:r>
              <a:rPr sz="1050" b="0" i="0" dirty="0" err="1">
                <a:solidFill>
                  <a:srgbClr val="B0C4D8"/>
                </a:solidFill>
              </a:rPr>
              <a:t>hibridación</a:t>
            </a:r>
            <a:r>
              <a:rPr sz="1050" b="0" i="0" dirty="0">
                <a:solidFill>
                  <a:srgbClr val="B0C4D8"/>
                </a:solidFill>
              </a:rPr>
              <a:t>, </a:t>
            </a:r>
            <a:r>
              <a:rPr sz="1050" b="0" i="0" dirty="0" err="1">
                <a:solidFill>
                  <a:srgbClr val="B0C4D8"/>
                </a:solidFill>
              </a:rPr>
              <a:t>Unidades</a:t>
            </a:r>
            <a:r>
              <a:rPr sz="1050" b="0" i="0" dirty="0">
                <a:solidFill>
                  <a:srgbClr val="B0C4D8"/>
                </a:solidFill>
              </a:rPr>
              <a:t>
→ </a:t>
            </a:r>
            <a:r>
              <a:rPr sz="1050" b="0" i="0" dirty="0" err="1">
                <a:solidFill>
                  <a:srgbClr val="B0C4D8"/>
                </a:solidFill>
              </a:rPr>
              <a:t>Tabla</a:t>
            </a:r>
            <a:r>
              <a:rPr sz="1050" b="0" i="0" dirty="0">
                <a:solidFill>
                  <a:srgbClr val="B0C4D8"/>
                </a:solidFill>
              </a:rPr>
              <a:t>: </a:t>
            </a:r>
            <a:r>
              <a:rPr sz="1050" b="0" i="0" dirty="0" err="1">
                <a:solidFill>
                  <a:srgbClr val="B0C4D8"/>
                </a:solidFill>
              </a:rPr>
              <a:t>sales_granular</a:t>
            </a:r>
            <a:endParaRPr sz="1050" b="0" i="0" dirty="0">
              <a:solidFill>
                <a:srgbClr val="B0C4D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51960" y="1188720"/>
            <a:ext cx="3657600" cy="137160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234440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8BDF8"/>
                </a:solidFill>
              </a:rPr>
              <a:t>📈 variables.xlsx — Drivers Macro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490472"/>
            <a:ext cx="3511296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5112" y="1517904"/>
            <a:ext cx="351129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0C4D8"/>
                </a:solidFill>
              </a:rPr>
              <a:t>IVA, WTI, EUR/USD, Oro, PIB, </a:t>
            </a:r>
            <a:r>
              <a:rPr sz="1050" b="0" i="0" dirty="0" err="1">
                <a:solidFill>
                  <a:srgbClr val="B0C4D8"/>
                </a:solidFill>
              </a:rPr>
              <a:t>Demanda</a:t>
            </a:r>
            <a:r>
              <a:rPr sz="1050" b="0" i="0" dirty="0">
                <a:solidFill>
                  <a:srgbClr val="B0C4D8"/>
                </a:solidFill>
              </a:rPr>
              <a:t> Interna
IPC, </a:t>
            </a:r>
            <a:r>
              <a:rPr sz="1050" b="0" i="0" dirty="0" err="1">
                <a:solidFill>
                  <a:srgbClr val="B0C4D8"/>
                </a:solidFill>
              </a:rPr>
              <a:t>Inflación</a:t>
            </a:r>
            <a:r>
              <a:rPr sz="1050" b="0" i="0" dirty="0">
                <a:solidFill>
                  <a:srgbClr val="B0C4D8"/>
                </a:solidFill>
              </a:rPr>
              <a:t>, Crédito, Riesgo País, </a:t>
            </a:r>
            <a:r>
              <a:rPr sz="1050" b="0" i="0" dirty="0" err="1">
                <a:solidFill>
                  <a:srgbClr val="B0C4D8"/>
                </a:solidFill>
              </a:rPr>
              <a:t>Tasas</a:t>
            </a:r>
            <a:r>
              <a:rPr sz="1050" b="0" i="0" dirty="0">
                <a:solidFill>
                  <a:srgbClr val="B0C4D8"/>
                </a:solidFill>
              </a:rPr>
              <a:t>
ICC, Empleo, </a:t>
            </a:r>
            <a:r>
              <a:rPr sz="1050" b="0" i="0" dirty="0" err="1">
                <a:solidFill>
                  <a:srgbClr val="B0C4D8"/>
                </a:solidFill>
              </a:rPr>
              <a:t>Importaciones</a:t>
            </a:r>
            <a:r>
              <a:rPr sz="1050" b="0" i="0" dirty="0">
                <a:solidFill>
                  <a:srgbClr val="B0C4D8"/>
                </a:solidFill>
              </a:rPr>
              <a:t> CBU, + Dummies
→ </a:t>
            </a:r>
            <a:r>
              <a:rPr sz="1050" b="0" i="0" dirty="0" err="1">
                <a:solidFill>
                  <a:srgbClr val="B0C4D8"/>
                </a:solidFill>
              </a:rPr>
              <a:t>Tabla</a:t>
            </a:r>
            <a:r>
              <a:rPr sz="1050" b="0" i="0" dirty="0">
                <a:solidFill>
                  <a:srgbClr val="B0C4D8"/>
                </a:solidFill>
              </a:rPr>
              <a:t>: </a:t>
            </a:r>
            <a:r>
              <a:rPr sz="1050" b="0" i="0" dirty="0" err="1">
                <a:solidFill>
                  <a:srgbClr val="B0C4D8"/>
                </a:solidFill>
              </a:rPr>
              <a:t>historical_drivers</a:t>
            </a:r>
            <a:endParaRPr sz="1050" b="0" i="0" dirty="0">
              <a:solidFill>
                <a:srgbClr val="B0C4D8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657600" cy="137160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234440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B923C"/>
                </a:solidFill>
              </a:rPr>
              <a:t>🗓️ ventas_xxx.xlsx — </a:t>
            </a:r>
            <a:r>
              <a:rPr sz="1200" b="1" i="0" dirty="0" err="1">
                <a:solidFill>
                  <a:srgbClr val="FB923C"/>
                </a:solidFill>
              </a:rPr>
              <a:t>Actualización</a:t>
            </a:r>
            <a:r>
              <a:rPr sz="1200" b="1" i="0" dirty="0">
                <a:solidFill>
                  <a:srgbClr val="FB923C"/>
                </a:solidFill>
              </a:rPr>
              <a:t> </a:t>
            </a:r>
            <a:r>
              <a:rPr sz="1200" b="1" i="0" dirty="0" err="1">
                <a:solidFill>
                  <a:srgbClr val="FB923C"/>
                </a:solidFill>
              </a:rPr>
              <a:t>Mensual</a:t>
            </a:r>
            <a:endParaRPr sz="1200" b="1" i="0" dirty="0">
              <a:solidFill>
                <a:srgbClr val="FB923C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211312" y="1490472"/>
            <a:ext cx="351129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517904"/>
            <a:ext cx="351129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B0C4D8"/>
                </a:solidFill>
              </a:rPr>
              <a:t>Mismo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esquema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que</a:t>
            </a:r>
            <a:r>
              <a:rPr sz="1050" b="0" i="0" dirty="0">
                <a:solidFill>
                  <a:srgbClr val="B0C4D8"/>
                </a:solidFill>
              </a:rPr>
              <a:t> industria.xlsx
</a:t>
            </a:r>
            <a:r>
              <a:rPr sz="1050" b="0" i="0" dirty="0" err="1">
                <a:solidFill>
                  <a:srgbClr val="B0C4D8"/>
                </a:solidFill>
              </a:rPr>
              <a:t>Cargado</a:t>
            </a:r>
            <a:r>
              <a:rPr sz="1050" b="0" i="0" dirty="0">
                <a:solidFill>
                  <a:srgbClr val="B0C4D8"/>
                </a:solidFill>
              </a:rPr>
              <a:t> con Subir_mes.py (CLI)
</a:t>
            </a:r>
            <a:r>
              <a:rPr sz="1050" b="0" i="0" dirty="0" err="1">
                <a:solidFill>
                  <a:srgbClr val="B0C4D8"/>
                </a:solidFill>
              </a:rPr>
              <a:t>Verificación</a:t>
            </a:r>
            <a:r>
              <a:rPr sz="1050" b="0" i="0" dirty="0">
                <a:solidFill>
                  <a:srgbClr val="B0C4D8"/>
                </a:solidFill>
              </a:rPr>
              <a:t> SUM(</a:t>
            </a:r>
            <a:r>
              <a:rPr sz="1050" b="0" i="0" dirty="0" err="1">
                <a:solidFill>
                  <a:srgbClr val="B0C4D8"/>
                </a:solidFill>
              </a:rPr>
              <a:t>unidades</a:t>
            </a:r>
            <a:r>
              <a:rPr sz="1050" b="0" i="0" dirty="0">
                <a:solidFill>
                  <a:srgbClr val="B0C4D8"/>
                </a:solidFill>
              </a:rPr>
              <a:t>) antes y </a:t>
            </a:r>
            <a:r>
              <a:rPr sz="1050" b="0" i="0" dirty="0" err="1">
                <a:solidFill>
                  <a:srgbClr val="B0C4D8"/>
                </a:solidFill>
              </a:rPr>
              <a:t>después</a:t>
            </a:r>
            <a:r>
              <a:rPr sz="1050" b="0" i="0" dirty="0">
                <a:solidFill>
                  <a:srgbClr val="B0C4D8"/>
                </a:solidFill>
              </a:rPr>
              <a:t>
→ </a:t>
            </a:r>
            <a:r>
              <a:rPr sz="1050" b="0" i="0" dirty="0" err="1">
                <a:solidFill>
                  <a:srgbClr val="B0C4D8"/>
                </a:solidFill>
              </a:rPr>
              <a:t>Tabla</a:t>
            </a:r>
            <a:r>
              <a:rPr sz="1050" b="0" i="0" dirty="0">
                <a:solidFill>
                  <a:srgbClr val="B0C4D8"/>
                </a:solidFill>
              </a:rPr>
              <a:t>: </a:t>
            </a:r>
            <a:r>
              <a:rPr sz="1050" b="0" i="0" dirty="0" err="1">
                <a:solidFill>
                  <a:srgbClr val="B0C4D8"/>
                </a:solidFill>
              </a:rPr>
              <a:t>sales_granular</a:t>
            </a:r>
            <a:r>
              <a:rPr sz="1050" b="0" i="0" dirty="0">
                <a:solidFill>
                  <a:srgbClr val="B0C4D8"/>
                </a:solidFill>
              </a:rPr>
              <a:t> (modo </a:t>
            </a:r>
            <a:r>
              <a:rPr sz="1050" b="0" i="0" dirty="0" err="1">
                <a:solidFill>
                  <a:srgbClr val="B0C4D8"/>
                </a:solidFill>
              </a:rPr>
              <a:t>reemplazo</a:t>
            </a:r>
            <a:r>
              <a:rPr sz="1050" b="0" i="0" dirty="0">
                <a:solidFill>
                  <a:srgbClr val="B0C4D8"/>
                </a:solidFill>
              </a:rPr>
              <a:t> de </a:t>
            </a:r>
            <a:r>
              <a:rPr sz="1050" b="0" i="0" dirty="0" err="1">
                <a:solidFill>
                  <a:srgbClr val="B0C4D8"/>
                </a:solidFill>
              </a:rPr>
              <a:t>período</a:t>
            </a:r>
            <a:r>
              <a:rPr sz="1050" b="0" i="0" dirty="0">
                <a:solidFill>
                  <a:srgbClr val="B0C4D8"/>
                </a:solidFill>
              </a:rPr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5394960" cy="141732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2880360"/>
            <a:ext cx="5248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4ADE80"/>
                </a:solidFill>
              </a:rPr>
              <a:t>⚙️ load_initial_data.py — Carga </a:t>
            </a:r>
            <a:r>
              <a:rPr sz="1200" b="1" i="0" dirty="0" err="1">
                <a:solidFill>
                  <a:srgbClr val="4ADE80"/>
                </a:solidFill>
              </a:rPr>
              <a:t>inicial</a:t>
            </a:r>
            <a:r>
              <a:rPr sz="1200" b="1" i="0" dirty="0">
                <a:solidFill>
                  <a:srgbClr val="4ADE80"/>
                </a:solidFill>
              </a:rPr>
              <a:t> completa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3136392"/>
            <a:ext cx="5248656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163824"/>
            <a:ext cx="524865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B0C4D8"/>
                </a:solidFill>
              </a:rPr>
              <a:t>✓ Valida columnas </a:t>
            </a:r>
            <a:r>
              <a:rPr sz="1050" b="0" i="0" dirty="0" err="1">
                <a:solidFill>
                  <a:srgbClr val="B0C4D8"/>
                </a:solidFill>
              </a:rPr>
              <a:t>obligatorias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en</a:t>
            </a:r>
            <a:r>
              <a:rPr sz="1050" b="0" i="0" dirty="0">
                <a:solidFill>
                  <a:srgbClr val="B0C4D8"/>
                </a:solidFill>
              </a:rPr>
              <a:t> Excel
✓ </a:t>
            </a:r>
            <a:r>
              <a:rPr sz="1050" b="0" i="0" dirty="0" err="1">
                <a:solidFill>
                  <a:srgbClr val="B0C4D8"/>
                </a:solidFill>
              </a:rPr>
              <a:t>Limpia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NaN</a:t>
            </a:r>
            <a:r>
              <a:rPr sz="1050" b="0" i="0" dirty="0">
                <a:solidFill>
                  <a:srgbClr val="B0C4D8"/>
                </a:solidFill>
              </a:rPr>
              <a:t>, </a:t>
            </a:r>
            <a:r>
              <a:rPr sz="1050" b="0" i="0" dirty="0" err="1">
                <a:solidFill>
                  <a:srgbClr val="B0C4D8"/>
                </a:solidFill>
              </a:rPr>
              <a:t>castea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tipos</a:t>
            </a:r>
            <a:r>
              <a:rPr sz="1050" b="0" i="0" dirty="0">
                <a:solidFill>
                  <a:srgbClr val="B0C4D8"/>
                </a:solidFill>
              </a:rPr>
              <a:t> (</a:t>
            </a:r>
            <a:r>
              <a:rPr sz="1050" b="0" i="0" dirty="0" err="1">
                <a:solidFill>
                  <a:srgbClr val="B0C4D8"/>
                </a:solidFill>
              </a:rPr>
              <a:t>fecha</a:t>
            </a:r>
            <a:r>
              <a:rPr sz="1050" b="0" i="0" dirty="0">
                <a:solidFill>
                  <a:srgbClr val="B0C4D8"/>
                </a:solidFill>
              </a:rPr>
              <a:t>, int)
✓ Puebla </a:t>
            </a:r>
            <a:r>
              <a:rPr sz="1050" b="0" i="0" dirty="0" err="1">
                <a:solidFill>
                  <a:srgbClr val="B0C4D8"/>
                </a:solidFill>
              </a:rPr>
              <a:t>sales_granular</a:t>
            </a:r>
            <a:r>
              <a:rPr sz="1050" b="0" i="0" dirty="0">
                <a:solidFill>
                  <a:srgbClr val="B0C4D8"/>
                </a:solidFill>
              </a:rPr>
              <a:t> y </a:t>
            </a:r>
            <a:r>
              <a:rPr sz="1050" b="0" i="0" dirty="0" err="1">
                <a:solidFill>
                  <a:srgbClr val="B0C4D8"/>
                </a:solidFill>
              </a:rPr>
              <a:t>historical_drivers</a:t>
            </a:r>
            <a:r>
              <a:rPr sz="1050" b="0" i="0" dirty="0">
                <a:solidFill>
                  <a:srgbClr val="B0C4D8"/>
                </a:solidFill>
              </a:rPr>
              <a:t>
✓ </a:t>
            </a:r>
            <a:r>
              <a:rPr sz="1050" b="0" i="0" dirty="0" err="1">
                <a:solidFill>
                  <a:srgbClr val="B0C4D8"/>
                </a:solidFill>
              </a:rPr>
              <a:t>Actualiza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catálogo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dim_vehicle_versions</a:t>
            </a:r>
            <a:endParaRPr sz="1050" b="0" i="0" dirty="0">
              <a:solidFill>
                <a:srgbClr val="B0C4D8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35040" y="2834640"/>
            <a:ext cx="5760720" cy="141732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08192" y="2880360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B923C"/>
                </a:solidFill>
              </a:rPr>
              <a:t>🔄 Subir_mes.py — </a:t>
            </a:r>
            <a:r>
              <a:rPr sz="1200" b="1" i="0" dirty="0" err="1">
                <a:solidFill>
                  <a:srgbClr val="FB923C"/>
                </a:solidFill>
              </a:rPr>
              <a:t>Actualización</a:t>
            </a:r>
            <a:r>
              <a:rPr sz="1200" b="1" i="0" dirty="0">
                <a:solidFill>
                  <a:srgbClr val="FB923C"/>
                </a:solidFill>
              </a:rPr>
              <a:t> </a:t>
            </a:r>
            <a:r>
              <a:rPr sz="1200" b="1" i="0" dirty="0" err="1">
                <a:solidFill>
                  <a:srgbClr val="FB923C"/>
                </a:solidFill>
              </a:rPr>
              <a:t>mensual</a:t>
            </a:r>
            <a:r>
              <a:rPr sz="1200" b="1" i="0" dirty="0">
                <a:solidFill>
                  <a:srgbClr val="FB923C"/>
                </a:solidFill>
              </a:rPr>
              <a:t> (CLI)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3136392"/>
            <a:ext cx="561441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08192" y="3172291"/>
            <a:ext cx="561441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B0C4D8"/>
                </a:solidFill>
              </a:rPr>
              <a:t>Parámetros</a:t>
            </a:r>
            <a:r>
              <a:rPr sz="1050" b="0" i="0" dirty="0">
                <a:solidFill>
                  <a:srgbClr val="B0C4D8"/>
                </a:solidFill>
              </a:rPr>
              <a:t>: --xlsx, --</a:t>
            </a:r>
            <a:r>
              <a:rPr sz="1050" b="0" i="0" dirty="0" err="1">
                <a:solidFill>
                  <a:srgbClr val="B0C4D8"/>
                </a:solidFill>
              </a:rPr>
              <a:t>periodo</a:t>
            </a:r>
            <a:r>
              <a:rPr sz="1050" b="0" i="0" dirty="0">
                <a:solidFill>
                  <a:srgbClr val="B0C4D8"/>
                </a:solidFill>
              </a:rPr>
              <a:t> (YYYY-MM), --</a:t>
            </a:r>
            <a:r>
              <a:rPr sz="1050" b="0" i="0" dirty="0" err="1">
                <a:solidFill>
                  <a:srgbClr val="B0C4D8"/>
                </a:solidFill>
              </a:rPr>
              <a:t>dsn</a:t>
            </a:r>
            <a:r>
              <a:rPr sz="1050" b="0" i="0" dirty="0">
                <a:solidFill>
                  <a:srgbClr val="B0C4D8"/>
                </a:solidFill>
              </a:rPr>
              <a:t>
1. Mide SUM(</a:t>
            </a:r>
            <a:r>
              <a:rPr sz="1050" b="0" i="0" dirty="0" err="1">
                <a:solidFill>
                  <a:srgbClr val="B0C4D8"/>
                </a:solidFill>
              </a:rPr>
              <a:t>unidades</a:t>
            </a:r>
            <a:r>
              <a:rPr sz="1050" b="0" i="0" dirty="0">
                <a:solidFill>
                  <a:srgbClr val="B0C4D8"/>
                </a:solidFill>
              </a:rPr>
              <a:t>) antes del </a:t>
            </a:r>
            <a:r>
              <a:rPr sz="1050" b="0" i="0" dirty="0" err="1">
                <a:solidFill>
                  <a:srgbClr val="B0C4D8"/>
                </a:solidFill>
              </a:rPr>
              <a:t>reemplazo</a:t>
            </a:r>
            <a:r>
              <a:rPr sz="1050" b="0" i="0" dirty="0">
                <a:solidFill>
                  <a:srgbClr val="B0C4D8"/>
                </a:solidFill>
              </a:rPr>
              <a:t>
2. Borra </a:t>
            </a:r>
            <a:r>
              <a:rPr sz="1050" b="0" i="0" dirty="0" err="1">
                <a:solidFill>
                  <a:srgbClr val="B0C4D8"/>
                </a:solidFill>
              </a:rPr>
              <a:t>el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período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en</a:t>
            </a:r>
            <a:r>
              <a:rPr sz="1050" b="0" i="0" dirty="0">
                <a:solidFill>
                  <a:srgbClr val="B0C4D8"/>
                </a:solidFill>
              </a:rPr>
              <a:t> BD
3. </a:t>
            </a:r>
            <a:r>
              <a:rPr sz="1050" b="0" i="0" dirty="0" err="1">
                <a:solidFill>
                  <a:srgbClr val="B0C4D8"/>
                </a:solidFill>
              </a:rPr>
              <a:t>Inserta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nuevas</a:t>
            </a:r>
            <a:r>
              <a:rPr sz="1050" b="0" i="0" dirty="0">
                <a:solidFill>
                  <a:srgbClr val="B0C4D8"/>
                </a:solidFill>
              </a:rPr>
              <a:t> </a:t>
            </a:r>
            <a:r>
              <a:rPr sz="1050" b="0" i="0" dirty="0" err="1">
                <a:solidFill>
                  <a:srgbClr val="B0C4D8"/>
                </a:solidFill>
              </a:rPr>
              <a:t>filas</a:t>
            </a:r>
            <a:r>
              <a:rPr sz="1050" b="0" i="0" dirty="0">
                <a:solidFill>
                  <a:srgbClr val="B0C4D8"/>
                </a:solidFill>
              </a:rPr>
              <a:t> (</a:t>
            </a:r>
            <a:r>
              <a:rPr sz="1050" b="0" i="0" dirty="0" err="1">
                <a:solidFill>
                  <a:srgbClr val="B0C4D8"/>
                </a:solidFill>
              </a:rPr>
              <a:t>lotes</a:t>
            </a:r>
            <a:r>
              <a:rPr sz="1050" b="0" i="0" dirty="0">
                <a:solidFill>
                  <a:srgbClr val="B0C4D8"/>
                </a:solidFill>
              </a:rPr>
              <a:t> de 10.000)
4. </a:t>
            </a:r>
            <a:r>
              <a:rPr sz="1050" b="0" i="0" dirty="0" err="1">
                <a:solidFill>
                  <a:srgbClr val="B0C4D8"/>
                </a:solidFill>
              </a:rPr>
              <a:t>Verifica</a:t>
            </a:r>
            <a:r>
              <a:rPr sz="1050" b="0" i="0" dirty="0">
                <a:solidFill>
                  <a:srgbClr val="B0C4D8"/>
                </a:solidFill>
              </a:rPr>
              <a:t> SUM(</a:t>
            </a:r>
            <a:r>
              <a:rPr sz="1050" b="0" i="0" dirty="0" err="1">
                <a:solidFill>
                  <a:srgbClr val="B0C4D8"/>
                </a:solidFill>
              </a:rPr>
              <a:t>unidades</a:t>
            </a:r>
            <a:r>
              <a:rPr sz="1050" b="0" i="0" dirty="0">
                <a:solidFill>
                  <a:srgbClr val="B0C4D8"/>
                </a:solidFill>
              </a:rPr>
              <a:t>) post-carga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34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84FC"/>
                </a:solidFill>
              </a:rPr>
              <a:t>→ Base de Datos PostgreSQL (Neon Cloud)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02 · Arquitectura de la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9 tablas PostgreSQL (Neon Cloud) • Conexión via SQLAlchemy (db.py)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560320" cy="192024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📋 sales_granular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90472"/>
            <a:ext cx="2414015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1790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fecha_proceso, segmento, marca
modelo, familia, provincia
combustible, origen, hibridación, unidades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188720"/>
            <a:ext cx="2560320" cy="192024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123444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📋 historical_drivers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3512" y="1490472"/>
            <a:ext cx="2414015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53512" y="151790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Fecha (PK)
20 vars. macro cuantitativas
6 dummies de eventos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188720"/>
            <a:ext cx="2560320" cy="192024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59552" y="123444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</a:rPr>
              <a:t>📋 forecast_driver_scenarios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490472"/>
            <a:ext cx="2414015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59552" y="151790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scenario_name, variable
fecha, escenario
valor_proyectado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2560320" cy="192024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123444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</a:rPr>
              <a:t>📋 forecast_final_projections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02752" y="1490472"/>
            <a:ext cx="2414015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151790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projection_name, segmento_base
modelo_usado, scenario_name
fecha, tipo_escenario, valor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383280"/>
            <a:ext cx="2560320" cy="192024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342900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</a:rPr>
              <a:t>📋 forecast_runs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685032"/>
            <a:ext cx="2414015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71246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projection_name, scope
horizon_months
train/test split
best_model, MAPE/MAE/RMSE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383280"/>
            <a:ext cx="2560320" cy="192024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53512" y="342900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</a:rPr>
              <a:t>📋 forecast_model_metrics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53512" y="3685032"/>
            <a:ext cx="2414015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53512" y="371246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projection_name
model_name
mape, mae, rmse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3383280"/>
            <a:ext cx="2560320" cy="1920240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59552" y="342900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📋 users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59552" y="3685032"/>
            <a:ext cx="2414015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59552" y="371246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email (unique)
password_hash (bcrypt)
is_approved, is_admin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383280"/>
            <a:ext cx="2560320" cy="1920240"/>
          </a:xfrm>
          <a:prstGeom prst="rect">
            <a:avLst/>
          </a:prstGeom>
          <a:solidFill>
            <a:srgbClr val="14283E"/>
          </a:solidFill>
          <a:ln w="1016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02752" y="342900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8"/>
                </a:solidFill>
              </a:rPr>
              <a:t>📋 dim_vehicle_versions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02752" y="3685032"/>
            <a:ext cx="2414015" cy="9144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2752" y="371246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marca, familia, modelo (UK)
segmento, combustible
origen, hibridación, last_seen_at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5532120"/>
            <a:ext cx="2560320" cy="1920240"/>
          </a:xfrm>
          <a:prstGeom prst="rect">
            <a:avLst/>
          </a:prstGeom>
          <a:solidFill>
            <a:srgbClr val="14283E"/>
          </a:solidFill>
          <a:ln w="1016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87952" y="5577840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8"/>
                </a:solidFill>
              </a:rPr>
              <a:t>📋 vehicle_main_competitor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87952" y="5833872"/>
            <a:ext cx="2414015" cy="9144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87952" y="5861304"/>
            <a:ext cx="2414015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B0C4D8"/>
                </a:solidFill>
              </a:rPr>
              <a:t>own vs. competitor
</a:t>
            </a:r>
            <a:r>
              <a:rPr sz="900" b="0" i="0" dirty="0" err="1">
                <a:solidFill>
                  <a:srgbClr val="B0C4D8"/>
                </a:solidFill>
              </a:rPr>
              <a:t>marca</a:t>
            </a:r>
            <a:r>
              <a:rPr sz="900" b="0" i="0" dirty="0">
                <a:solidFill>
                  <a:srgbClr val="B0C4D8"/>
                </a:solidFill>
              </a:rPr>
              <a:t>, familia, </a:t>
            </a:r>
            <a:r>
              <a:rPr sz="900" b="0" i="0" dirty="0" err="1">
                <a:solidFill>
                  <a:srgbClr val="B0C4D8"/>
                </a:solidFill>
              </a:rPr>
              <a:t>modelo</a:t>
            </a:r>
            <a:r>
              <a:rPr sz="900" b="0" i="0" dirty="0">
                <a:solidFill>
                  <a:srgbClr val="B0C4D8"/>
                </a:solidFill>
              </a:rPr>
              <a:t>
</a:t>
            </a:r>
            <a:r>
              <a:rPr sz="900" b="0" i="0" dirty="0" err="1">
                <a:solidFill>
                  <a:srgbClr val="B0C4D8"/>
                </a:solidFill>
              </a:rPr>
              <a:t>competition_type</a:t>
            </a:r>
            <a:r>
              <a:rPr sz="900" b="0" i="0" dirty="0">
                <a:solidFill>
                  <a:srgbClr val="B0C4D8"/>
                </a:solidFill>
              </a:rPr>
              <a:t>: Directa/</a:t>
            </a:r>
            <a:r>
              <a:rPr sz="900" b="0" i="0" dirty="0" err="1">
                <a:solidFill>
                  <a:srgbClr val="B0C4D8"/>
                </a:solidFill>
              </a:rPr>
              <a:t>Indirecta</a:t>
            </a:r>
            <a:endParaRPr sz="900" b="0" i="0" dirty="0">
              <a:solidFill>
                <a:srgbClr val="B0C4D8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03 · Drivers Macroeconómicos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25 variables que alimentan los modelos de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51760" cy="1965960"/>
          </a:xfrm>
          <a:prstGeom prst="rect">
            <a:avLst/>
          </a:prstGeom>
          <a:solidFill>
            <a:srgbClr val="2E1608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7171"/>
                </a:solidFill>
              </a:rPr>
              <a:t>Fiscal / Precios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90472"/>
            <a:ext cx="2505456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17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IVA
IPC
Inflación Mensual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188720"/>
            <a:ext cx="2651760" cy="196596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2344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</a:rPr>
              <a:t>Actividad Real (PIB)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44952" y="1490472"/>
            <a:ext cx="2505456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2" y="1517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PIB Demanda Cab. Bruta
PIB Ajustado
Demanda Interna Ajustada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188720"/>
            <a:ext cx="2651760" cy="196596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42432" y="12344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923C"/>
                </a:solidFill>
              </a:rPr>
              <a:t>Sector Petrolero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2432" y="1490472"/>
            <a:ext cx="250545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42432" y="1517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Ingresos Petróleo
Producción Petróleo
WTI (precio crudo)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188720"/>
            <a:ext cx="2651760" cy="196596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94192" y="1234440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</a:rPr>
              <a:t>Financiero / Crédito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1490472"/>
            <a:ext cx="2505456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1517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Crédito Sector Privado
Depósitos a la Vista
Cartera Créditos Consumo
Tasa de Interés Activa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74720"/>
            <a:ext cx="2651760" cy="196596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3520439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Mercado / Riesgo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776472"/>
            <a:ext cx="2505456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803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Riesgo País (EMBI)
EUR/USD
Oro (1 oz)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3474720"/>
            <a:ext cx="2651760" cy="196596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44952" y="3520439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</a:rPr>
              <a:t>Laboral / Expectativas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4952" y="3776472"/>
            <a:ext cx="2505456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44952" y="3803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Empleo Adecuado Pleno
ICC (Confianza Consumidor)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474720"/>
            <a:ext cx="2651760" cy="196596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42432" y="3520439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Comercio Exterior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42432" y="3776472"/>
            <a:ext cx="2505456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42432" y="3803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Importaciones CBU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474720"/>
            <a:ext cx="2651760" cy="1965960"/>
          </a:xfrm>
          <a:prstGeom prst="rect">
            <a:avLst/>
          </a:prstGeom>
          <a:solidFill>
            <a:srgbClr val="181828"/>
          </a:solidFill>
          <a:ln w="1016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94192" y="3520439"/>
            <a:ext cx="2505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0C4D8"/>
                </a:solidFill>
              </a:rPr>
              <a:t>Dummies de Eventos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94192" y="3776472"/>
            <a:ext cx="2505456" cy="9144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94192" y="3803904"/>
            <a:ext cx="250545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COVID Lockdown (2020)
Cambio IVA (2024)
Elecciones Presidenciales
Paros Nacionales
Utilidades
CUP Import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3A5A"/>
                </a:solidFill>
              </a:rPr>
              <a:t>Fuentes: BCE · SRI · INEC · Investing.com · Veritrade · INEC Power 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04 · Pipeline Completo de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De los datos brutos a las proyecciones por segmento / marca / modelo / provincia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25880"/>
            <a:ext cx="1042415" cy="1463040"/>
          </a:xfrm>
          <a:prstGeom prst="rect">
            <a:avLst/>
          </a:prstGeom>
          <a:solidFill>
            <a:srgbClr val="122A1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DE80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Excel
ventas + 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39" y="1325880"/>
            <a:ext cx="1042415" cy="1463040"/>
          </a:xfrm>
          <a:prstGeom prst="rect">
            <a:avLst/>
          </a:prstGeom>
          <a:solidFill>
            <a:srgbClr val="1F1233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39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84F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BD PostgreSQL
(sales_granular +
historical_drivers)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599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70048" y="1325880"/>
            <a:ext cx="1042415" cy="1463040"/>
          </a:xfrm>
          <a:prstGeom prst="rect">
            <a:avLst/>
          </a:prstGeom>
          <a:solidFill>
            <a:srgbClr val="1428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70048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Correlación
Drivers × Ventas
(Nivel + YoY)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7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77055" y="1325880"/>
            <a:ext cx="1042415" cy="1463040"/>
          </a:xfrm>
          <a:prstGeom prst="rect">
            <a:avLst/>
          </a:prstGeom>
          <a:solidFill>
            <a:srgbClr val="14283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7055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1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Proyección Drivers
SARIMAX / AutoARIMA
3 escenarios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5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4064" y="1325880"/>
            <a:ext cx="1042415" cy="1463040"/>
          </a:xfrm>
          <a:prstGeom prst="rect">
            <a:avLst/>
          </a:prstGeom>
          <a:solidFill>
            <a:srgbClr val="1F1233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84064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84FC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Guardado
Driver Scenarios
(BD)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3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1325880"/>
            <a:ext cx="1042415" cy="1463040"/>
          </a:xfrm>
          <a:prstGeom prst="rect">
            <a:avLst/>
          </a:prstGeom>
          <a:solidFill>
            <a:srgbClr val="2E1608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923C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Competencia
de Modelos ML
(Walk-Forward CV)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2631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1325880"/>
            <a:ext cx="1042415" cy="1463040"/>
          </a:xfrm>
          <a:prstGeom prst="rect">
            <a:avLst/>
          </a:prstGeom>
          <a:solidFill>
            <a:srgbClr val="2E1608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79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923C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4655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Forecast Final
(modelo ganador)
±1.96 × RMSE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05087" y="1325880"/>
            <a:ext cx="1042415" cy="1463040"/>
          </a:xfrm>
          <a:prstGeom prst="rect">
            <a:avLst/>
          </a:prstGeom>
          <a:solidFill>
            <a:srgbClr val="1F1233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05087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84FC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41663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Guardado BD
(projections +
runs + metrics)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12095" y="1325880"/>
            <a:ext cx="1042415" cy="1463040"/>
          </a:xfrm>
          <a:prstGeom prst="rect">
            <a:avLst/>
          </a:prstGeom>
          <a:solidFill>
            <a:srgbClr val="2A0D0D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12095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7171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1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Desagregación
Top-Down
(seg × modelo)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63655" y="2103120"/>
            <a:ext cx="21031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119103" y="1325880"/>
            <a:ext cx="1042415" cy="1463040"/>
          </a:xfrm>
          <a:prstGeom prst="rect">
            <a:avLst/>
          </a:prstGeom>
          <a:solidFill>
            <a:srgbClr val="2A0D0D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119103" y="1371600"/>
            <a:ext cx="10424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7171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79" y="1673352"/>
            <a:ext cx="969263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Dashboard &amp;
Exportación
CSV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063240"/>
            <a:ext cx="201168" cy="20116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2" y="30358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Datos de entrada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88920" y="3063240"/>
            <a:ext cx="201168" cy="20116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044952" y="30358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Base de datos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3063240"/>
            <a:ext cx="201168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76672" y="30358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Motor de drivers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59" y="3063240"/>
            <a:ext cx="201168" cy="20116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08391" y="30358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Motor ML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3063240"/>
            <a:ext cx="201168" cy="2011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040111" y="30358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Salida / Visualización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474720"/>
            <a:ext cx="2834640" cy="1572768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47472" y="3520439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Correlación (Paso 3)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7472" y="3776472"/>
            <a:ext cx="2688336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7472" y="3803904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• Pearson en nivel y crecimiento YoY
• Score = |Corr_YoY| (prioridad)
• Threshold: Score &gt; 0.5 → sugerido
• IMP_CBU excluido por endogeneidad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64408" y="3474720"/>
            <a:ext cx="2834640" cy="1572768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37560" y="3520439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</a:rPr>
              <a:t>Proyección Drivers (Paso 4)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37560" y="3776472"/>
            <a:ext cx="2688336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337560" y="3803904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• auto_arima (pmdarima) → preferido
• SARIMAX(1,1,1)(1,1,0,12) → fallback
• Último valor → fallback final
• IVA y constantes: tratados aparte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54496" y="3474720"/>
            <a:ext cx="2834640" cy="1572768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27648" y="3520439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B923C"/>
                </a:solidFill>
              </a:rPr>
              <a:t>Modelo Ganador (Paso 6-7)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27648" y="3776472"/>
            <a:ext cx="268833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327648" y="3803904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• XGBoost, RandomForest, SARIMAX, Prophet
• 5 folds × 4 meses (Walk-Forward)
• Shocks excluidos del MAPE
• Ganador = menor MAPE en datos limpios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44584" y="3474720"/>
            <a:ext cx="2834640" cy="1572768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317736" y="3520439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87171"/>
                </a:solidFill>
              </a:rPr>
              <a:t>Desagregación (Paso 9)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17736" y="3776472"/>
            <a:ext cx="2688336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317736" y="3803904"/>
            <a:ext cx="2688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• Share de segmento: todo el histórico
• Share de modelo: últimos N meses
• Share combinado = seg × modelo_norm
• Ajuste de redondeo exacto por mes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05 · Motor de ML — Ingeniería 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forecasting_engine.py · función _create_features()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88920" cy="201168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2642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🕐 Variables Temporales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90472"/>
            <a:ext cx="2642615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17904"/>
            <a:ext cx="264261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month: mes del año (1–12)
quarter: trimestre (1–4)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188720"/>
            <a:ext cx="2788920" cy="201168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9272" y="1234440"/>
            <a:ext cx="2642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🔗 Lags de Drivers Macro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490472"/>
            <a:ext cx="2642615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272" y="1517904"/>
            <a:ext cx="264261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Cada driver: lags 1, 2, 3 y 12 meses
Capturan efectos rezagados del entorno
macro/financiero en las ventas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2788920" cy="201168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234440"/>
            <a:ext cx="2642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📈 Lags de Ventas (AR)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490472"/>
            <a:ext cx="2642615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517904"/>
            <a:ext cx="264261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Ventas_lag_1 → t-1 (tendencia reciente)
Ventas_lag_12 → mismo mes año anterior
(estacionalidad anual)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188720"/>
            <a:ext cx="2788920" cy="201168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1234440"/>
            <a:ext cx="2642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📊 Medias Móviles de Ventas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62872" y="1490472"/>
            <a:ext cx="2642615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62872" y="1517904"/>
            <a:ext cx="2642615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Rolling mean 3m (desde t-1)
Rolling mean 6m (desde t-1)
Rolling std 6m → volatilidad reciente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11521440" cy="1828800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3474720"/>
            <a:ext cx="11375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⚠️ Decisiones de Diseño Clave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730752"/>
            <a:ext cx="11375136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3758184"/>
            <a:ext cx="11375136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• Lags 2 y 3 de VENTAS fueron ELIMINADOS (v6.6): incrementaron el MAPE sin aportar señal limpia
• Los lags de DRIVERS sí se mantienen (lags 2 y 3) porque los datos macro tienen retardos naturales
• Pronóstico DINÁMICO (para XGB/RF): en cada paso futuro se actualizan los lags con la predicción anterior
• Para SARIMAX y Prophet: se usa X original sin features extendidas (modelos estadísticos puros)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440680"/>
            <a:ext cx="11521440" cy="118872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5486400"/>
            <a:ext cx="11375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🤖 Modelos en Competencia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5742432"/>
            <a:ext cx="1137513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7472" y="5769864"/>
            <a:ext cx="113751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XGBoost    — n_estimators=500, lr=0.01, random_state=42
RandomForest — n_estimators=100, random_state=42
SARIMAX    — orden (1,1,1)(1,1,0,12) con drivers como exógenas
Prophet    — aditivo con todos los drivers como regresores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06 · Walk-Forward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Evaluación realista de modelos de series temporales — run_model_competition()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Esquema de 5 folds × 4 meses de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1764792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Fold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182880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</a:rP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91640"/>
            <a:ext cx="777240" cy="475488"/>
          </a:xfrm>
          <a:prstGeom prst="rect">
            <a:avLst/>
          </a:prstGeom>
          <a:solidFill>
            <a:srgbClr val="2E1008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0048" y="1691640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ADE80"/>
                </a:solidFill>
              </a:rPr>
              <a:t>TEST
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2514600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923C"/>
                </a:solidFill>
              </a:rPr>
              <a:t>Fold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441448"/>
            <a:ext cx="233172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2240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</a:rPr>
              <a:t>TRAIN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79" y="2441448"/>
            <a:ext cx="777240" cy="475488"/>
          </a:xfrm>
          <a:prstGeom prst="rect">
            <a:avLst/>
          </a:prstGeom>
          <a:solidFill>
            <a:srgbClr val="2E1008"/>
          </a:solidFill>
          <a:ln w="63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72968" y="2441448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B923C"/>
                </a:solidFill>
              </a:rPr>
              <a:t>TEST
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" y="3264408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</a:rPr>
              <a:t>Fold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191256"/>
            <a:ext cx="283464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2644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</a:rPr>
              <a:t>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191256"/>
            <a:ext cx="777240" cy="475488"/>
          </a:xfrm>
          <a:prstGeom prst="rect">
            <a:avLst/>
          </a:prstGeom>
          <a:solidFill>
            <a:srgbClr val="2E1008"/>
          </a:solidFill>
          <a:ln w="63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75887" y="3191256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084FC"/>
                </a:solidFill>
              </a:rPr>
              <a:t>TEST
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" y="4014215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Fold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941063"/>
            <a:ext cx="333756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014215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</a:rPr>
              <a:t>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941063"/>
            <a:ext cx="777240" cy="475488"/>
          </a:xfrm>
          <a:prstGeom prst="rect">
            <a:avLst/>
          </a:prstGeom>
          <a:solidFill>
            <a:srgbClr val="2E1008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78808" y="3941063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8BDF8"/>
                </a:solidFill>
              </a:rPr>
              <a:t>TEST
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" y="4764023"/>
            <a:ext cx="685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Fold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690871"/>
            <a:ext cx="3840480" cy="475488"/>
          </a:xfrm>
          <a:prstGeom prst="rect">
            <a:avLst/>
          </a:prstGeom>
          <a:solidFill>
            <a:srgbClr val="0E2A0E"/>
          </a:solidFill>
          <a:ln w="63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764023"/>
            <a:ext cx="3749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DE80"/>
                </a:solidFill>
              </a:rPr>
              <a:t>TRAIN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4690871"/>
            <a:ext cx="777240" cy="475488"/>
          </a:xfrm>
          <a:prstGeom prst="rect">
            <a:avLst/>
          </a:prstGeom>
          <a:solidFill>
            <a:srgbClr val="2E1008"/>
          </a:solidFill>
          <a:ln w="63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81728" y="4690871"/>
            <a:ext cx="777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87171"/>
                </a:solidFill>
              </a:rPr>
              <a:t>TEST
4m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1600200"/>
            <a:ext cx="6766560" cy="146304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93792" y="1645920"/>
            <a:ext cx="6620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📏 Métricas de Evaluación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93792" y="1901952"/>
            <a:ext cx="6620256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93792" y="1929384"/>
            <a:ext cx="66202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MAPE (%) — Error porcentual medio absoluto → define al ganador
MAE  — Error absoluto en unidades de vehículos
RMSE — Penaliza errores grandes (usado para bandas de IC)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3246120"/>
            <a:ext cx="6766560" cy="2057400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93792" y="3291839"/>
            <a:ext cx="6620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🚫 Fechas de Shock Excluidas del MAPE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93792" y="3547872"/>
            <a:ext cx="6620256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93792" y="3575303"/>
            <a:ext cx="662025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Oct 2019  — Paro Nacional
Mar–May 2020 — COVID Lockdown
Jun 2022  — Paro Nacional
Mar–Abr 2024 — Cambio IVA 12% → 15%
Objetivo: MAPE represente error 'normal', no eventos irrepetibles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69280"/>
            <a:ext cx="4572000" cy="96012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5715000"/>
            <a:ext cx="4425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🏆 Selección del Modelo Ganador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5971032"/>
            <a:ext cx="442569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7472" y="5998464"/>
            <a:ext cx="44256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• Se agregan predicciones de todos los folds
• Se filtran las fechas de shock
• Ganador = menor MAPE en datos limpios
• Se re-entrena con el 100% del histórico
• Se generan residuos y backtest visual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5440680"/>
            <a:ext cx="6766560" cy="118872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93792" y="5486400"/>
            <a:ext cx="6620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📐 Intervalo de Confianza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93792" y="5742432"/>
            <a:ext cx="6620256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93792" y="5769864"/>
            <a:ext cx="66202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XGBoost / RandomForest: ±1.96 × RMSE_backtest
SARIMAX: intervalo de confianza del modelo (95%)
Prophet: yhat_lower / yhat_upper nativos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07 · Forecast Final y Desagregación Top-Down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run_final_forecast() → calculate_desagregado()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7315200" cy="224028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7168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📈 Forecast Final — run_final_forecast()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90472"/>
            <a:ext cx="716889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17904"/>
            <a:ext cx="7168896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1. Re-entrena el modelo ganador con 100% de datos históricos
2. Aplica _create_features() a la línea de tiempo completa (hist + futuro)
3. Pronóstico dinámico (XGB/RF): en cada mes actualiza lags t-1, t-12 y rolling 3m/6m
4. Ejecuta 3 escenarios: _normal, _optimista, _pesimista
5. Intervalo de confianza = ±1.96 × RMSE del backtest
6. Resultado: Ventas_Proyectadas, Ventas_Minimo, Ventas_Maximo (por escenario)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188720"/>
            <a:ext cx="4114800" cy="224028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91272" y="1234440"/>
            <a:ext cx="3968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💾 Guardado en BD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91272" y="1490472"/>
            <a:ext cx="3968496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2" y="1517904"/>
            <a:ext cx="3968496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forecast_final_projections
→ valor por fecha y escenario
forecast_runs
→ metadatos del backtest
forecast_model_metrics
→ leaderboard completo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39312"/>
            <a:ext cx="11612880" cy="347472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" y="3685032"/>
            <a:ext cx="11466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🔽 Desagregación Top-Down — calculate_desagregado()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3941063"/>
            <a:ext cx="11466576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968496"/>
            <a:ext cx="11466576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4160520"/>
            <a:ext cx="2148840" cy="2423160"/>
          </a:xfrm>
          <a:prstGeom prst="rect">
            <a:avLst/>
          </a:prstGeom>
          <a:solidFill>
            <a:srgbClr val="122A14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42062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Share Segmento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526280"/>
            <a:ext cx="2002536" cy="1828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457200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</a:rPr>
              <a:t>% de cada segmento
(SUV, Sedan, etc.)
sobre el total
—usando TODO
el histórico previo
al inicio del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166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15184" y="4160520"/>
            <a:ext cx="2148840" cy="2423160"/>
          </a:xfrm>
          <a:prstGeom prst="rect">
            <a:avLst/>
          </a:prstGeom>
          <a:solidFill>
            <a:srgbClr val="1428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60903" y="42062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BDF8"/>
                </a:solidFill>
              </a:rPr>
              <a:t>Share Modelo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88336" y="4526280"/>
            <a:ext cx="2002536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88336" y="457200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</a:rPr>
              <a:t>% de cada
marca/modelo/provincia
dentro del segmento
—usando solo
los últimos N meses
(N configurable)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5166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6048" y="4160520"/>
            <a:ext cx="2148840" cy="2423160"/>
          </a:xfrm>
          <a:prstGeom prst="rect">
            <a:avLst/>
          </a:prstGeom>
          <a:solidFill>
            <a:srgbClr val="1F1233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01768" y="42062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84FC"/>
                </a:solidFill>
              </a:rPr>
              <a:t>Share Combinado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4526280"/>
            <a:ext cx="2002536" cy="1828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0" y="457200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</a:rPr>
              <a:t>Share_seg
×
Share_modelo_norm
= proporción de
cada celda
granular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5166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96912" y="4160520"/>
            <a:ext cx="2148840" cy="2423160"/>
          </a:xfrm>
          <a:prstGeom prst="rect">
            <a:avLst/>
          </a:prstGeom>
          <a:solidFill>
            <a:srgbClr val="2E1608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42631" y="42062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923C"/>
                </a:solidFill>
              </a:rPr>
              <a:t>Expansión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0063" y="4526280"/>
            <a:ext cx="2002536" cy="182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70063" y="457200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</a:rPr>
              <a:t>Cross-join:
Forecast Total
×
Shares
Unidades = Total × Share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516636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7776" y="4160520"/>
            <a:ext cx="2148840" cy="2423160"/>
          </a:xfrm>
          <a:prstGeom prst="rect">
            <a:avLst/>
          </a:prstGeom>
          <a:solidFill>
            <a:srgbClr val="2A0D0D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3496" y="42062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87171"/>
                </a:solidFill>
              </a:rPr>
              <a:t>Ajuste Redondeo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8" y="4526280"/>
            <a:ext cx="2002536" cy="182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710928" y="4572000"/>
            <a:ext cx="2011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4D8"/>
                </a:solidFill>
              </a:rPr>
              <a:t>Por cada mes:
SUM(redondeados)
== Total proyectado
El mayor share absorbe
la diferencia de redondeo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08 · Módulos de la Aplicación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5 páginas + 2 módulos de soporte + motor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840480" cy="237744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app.py
📊 Dashboard Principal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90472"/>
            <a:ext cx="3694176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17904"/>
            <a:ext cx="369417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Login y sesión (auth.py)
Selección de proyección maestra
Tab: Visión General Proyectada
Tab: Detalle por Modelo/Versión
Desagregación jerárquica top-down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840480" cy="237744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2" y="123444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1_Forecast_App.py
⚙️ Aplicación S&amp;OP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1490472"/>
            <a:ext cx="3694176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2" y="1517904"/>
            <a:ext cx="369417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Tab 1: Exploración histórica + KPIs
Tab 2: Escenarios de Drivers
Tab 3: Pronóstico de Ventas
Exportación CSV de datos filtrados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188720"/>
            <a:ext cx="3840480" cy="237744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123444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923C"/>
                </a:solidFill>
              </a:rPr>
              <a:t>2_Main_Competitors.py
🏁 Competidores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1490472"/>
            <a:ext cx="3694176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517904"/>
            <a:ext cx="369417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Registro de competidores por modelo
Directa / Indirecta
Auditoría de cambios (historial)
Vista de tabla dinámica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3840480" cy="237744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393192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84FC"/>
                </a:solidFill>
              </a:rPr>
              <a:t>3_Register.py
👤 Registro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187952"/>
            <a:ext cx="3694176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4215384"/>
            <a:ext cx="369417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Formulario de auto-registro
Validación dominio @corpmaresa.com.ec
Cuenta pendiente de aprobación
bcrypt hash de contraseña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886200"/>
            <a:ext cx="3840480" cy="2377440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70832" y="393192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4_Admin.py
🛠️ Administración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4187952"/>
            <a:ext cx="3694176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70832" y="4215384"/>
            <a:ext cx="369417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Aprobación de cuentas pendientes
Gestión de roles (is_admin)
Solo accesible a administradores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886200"/>
            <a:ext cx="3840480" cy="2377440"/>
          </a:xfrm>
          <a:prstGeom prst="rect">
            <a:avLst/>
          </a:prstGeom>
          <a:solidFill>
            <a:srgbClr val="14283E"/>
          </a:solidFill>
          <a:ln w="1016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3931920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C4D8"/>
                </a:solidFill>
              </a:rPr>
              <a:t>Módulos de Soporte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94192" y="4187952"/>
            <a:ext cx="3694176" cy="9144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94192" y="4215384"/>
            <a:ext cx="3694176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db.py — Conexión SQLAlchemy (Neon)
auth.py — bcrypt + sesiones Streamlit
sidebar.py — Menú de navegación
forecasting_engine.py — Motor ML
database_setup.py — DDL de 9 tablas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09 · Flujo del Proceso S&amp;OP — 3 Pestañas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1_Forecast_App.py — lógica de negocio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1965960"/>
          </a:xfrm>
          <a:prstGeom prst="rect">
            <a:avLst/>
          </a:prstGeom>
          <a:solidFill>
            <a:srgbClr val="1428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43584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TAB 1
📊 Verificación Histórica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792224"/>
            <a:ext cx="3602736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828800"/>
            <a:ext cx="36027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Filtros (Segmento, Marca, Modelo, Provincia, Combustible, Origen)
• Consulta SQL dinámica (IN + expanding bind params) → sales_granular
• KPIs: Total, Promedio L12M, Mejor Mes, Desv.Est., Crecimiento YTD
• Gráficos: barras apiladas + línea total + market share
• Análisis técnico: Boxplot, YoY/MoM, Descomposición STL, ACF/PACF
• Exportación CSV de datos filtrados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188720"/>
            <a:ext cx="3749039" cy="1965960"/>
          </a:xfrm>
          <a:prstGeom prst="rect">
            <a:avLst/>
          </a:prstGeom>
          <a:solidFill>
            <a:srgbClr val="122A14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243584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TAB 2
⚙️ Escenarios de Drivers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792224"/>
            <a:ext cx="3602736" cy="1828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828800"/>
            <a:ext cx="36027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Configuración: horizonte (6–36 meses) y segmento base
• Calcula correlación nivel + YoY → Score → sugerencia automática
• Tabla editable (checkbox) para seleccionar drivers
• Botón: genera proyección estadística (SARIMAX / AutoARIMA)
• Asistente YoY %: override anual para drivers que siguen una meta
• Sliders de incertidumbre (banda Optimista/Pesimista asimétrica)
• Editor de tabla: override manual celda a celda
• Guarda escenario en forecast_driver_scenarios (BD)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188720"/>
            <a:ext cx="3749039" cy="1965960"/>
          </a:xfrm>
          <a:prstGeom prst="rect">
            <a:avLst/>
          </a:prstGeom>
          <a:solidFill>
            <a:srgbClr val="2E1608"/>
          </a:solidFill>
          <a:ln w="1905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243584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TAB 3
📈 Pronóstico de Ventas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1792224"/>
            <a:ext cx="3602736" cy="18288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828800"/>
            <a:ext cx="360273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C4D8"/>
                </a:solidFill>
              </a:rPr>
              <a:t>• Selecciona escenario de drivers guardado en BD
• Ejecuta run_model_competition() → Walk-Forward CV 5 folds
• Muestra leaderboard (MAPE / MAE / RMSE) por modelo
• Ejecuta run_final_forecast() con modelo ganador → 3 escenarios
• Visualiza: real + proyección + backtest + residuos del ganador
• Guarda en BD: forecast_final_projections + runs +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10 · Dashboard Principal — Salidas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app.py — Página principal post-login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237744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34440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📑 Ficha Técnica de Proyección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490472"/>
            <a:ext cx="3602735" cy="914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517904"/>
            <a:ext cx="360273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Drivers utilizados (tipo, por qué, fuente)
Comparación: último valor real vs. proyectado
Variación %
Leaderboard de modelos (MAPE/MAE/RMSE)
Modelo ganador con justificación detallada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188720"/>
            <a:ext cx="3749039" cy="2377440"/>
          </a:xfrm>
          <a:prstGeom prst="rect">
            <a:avLst/>
          </a:prstGeom>
          <a:solidFill>
            <a:srgbClr val="122A14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234440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📈 Pronóstico Total Industria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90472"/>
            <a:ext cx="3602735" cy="914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517904"/>
            <a:ext cx="360273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Serie histórica real (negro)
3 escenarios: Normal, Optimista, Pesimista
Gráfico interactivo Altair
Tooltip con fecha y unidades formateadas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6" y="1188720"/>
            <a:ext cx="3749039" cy="2377440"/>
          </a:xfrm>
          <a:prstGeom prst="rect">
            <a:avLst/>
          </a:prstGeom>
          <a:solidFill>
            <a:srgbClr val="2E1608"/>
          </a:solidFill>
          <a:ln w="1016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234440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923C"/>
                </a:solidFill>
              </a:rPr>
              <a:t>📅 Crecimiento 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1490472"/>
            <a:ext cx="3602735" cy="9144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517904"/>
            <a:ext cx="360273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Tabla: Real + Proyectado + Total + Crec %
Barras coloreadas por tipo de año:
  · Solo real · Real+Proyección · Solo proyección
Etiquetas de valor sobre cada barra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86200"/>
            <a:ext cx="3749039" cy="237744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3931920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🔄 Análisis de Estacionalidad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4187952"/>
            <a:ext cx="3602735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4215384"/>
            <a:ext cx="360273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Últimos 3 años (real + proyectado)
Barras agrupadas por mes y año
Etiqueta de variación YoY sobre cada barra
Paleta de colores distinta por año (tableau10)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886200"/>
            <a:ext cx="3749039" cy="2377440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931920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🗂️ Detalle por Modelo/Versión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187952"/>
            <a:ext cx="3602735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400" y="4215384"/>
            <a:ext cx="360273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Filtros: Modelo, Provincia, Escenario
Tabla desagregada: Fecha, Segmento,
  Marca, Modelo, Provincia, Unidades
Exportación 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6" y="3886200"/>
            <a:ext cx="3749039" cy="2377440"/>
          </a:xfrm>
          <a:prstGeom prst="rect">
            <a:avLst/>
          </a:prstGeom>
          <a:solidFill>
            <a:srgbClr val="14283E"/>
          </a:solidFill>
          <a:ln w="10160">
            <a:solidFill>
              <a:srgbClr val="B0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9328" y="3931920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C4D8"/>
                </a:solidFill>
              </a:rPr>
              <a:t>📊 Share por Segmento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9328" y="4187952"/>
            <a:ext cx="3602735" cy="9144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8" y="4215384"/>
            <a:ext cx="3602735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Evolución mensual del market share
Líneas continuas = histórico real
Líneas punteadas = proyección
Un color por segmento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283E"/>
          </a:solidFill>
          <a:ln w="6350">
            <a:solidFill>
              <a:srgbClr val="1E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11-12 · Autenticación · Seguridad · Estructura de Archivos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85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Plataforma Forecast · Industria Automotriz Ecuador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2286000"/>
          </a:xfrm>
          <a:prstGeom prst="rect">
            <a:avLst/>
          </a:prstGeom>
          <a:solidFill>
            <a:srgbClr val="2A0D0D"/>
          </a:solidFill>
          <a:ln w="1016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234440"/>
            <a:ext cx="55229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🔐 Autenticación y Seguridad — auth.py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490472"/>
            <a:ext cx="5522976" cy="914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517904"/>
            <a:ext cx="552297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• Solo correos @corpmaresa.com.ec (validación de dominio)
• bcrypt: hash con salt individual por contraseña
• Registro: cuenta queda en estado pendiente (is_approved = False)
• Admin aprueba manualmente desde 4_Admin.py
• Sesión: st.session_state['logged_in'], ['is_admin'], ['email']
• Sin sesión activa → redirige al login (bloqueo en cada página)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760720" cy="2286000"/>
          </a:xfrm>
          <a:prstGeom prst="rect">
            <a:avLst/>
          </a:prstGeom>
          <a:solidFill>
            <a:srgbClr val="1F1233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9632" y="1234440"/>
            <a:ext cx="56144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84FC"/>
                </a:solidFill>
              </a:rPr>
              <a:t>🗄️ Conexión a Base de Datos — db.py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490472"/>
            <a:ext cx="5614416" cy="914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9632" y="1517904"/>
            <a:ext cx="561441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4D8"/>
                </a:solidFill>
              </a:rPr>
              <a:t>• DATABASE_URL: leído desde st.secrets (Streamlit Cloud) o env var local
• PostgreSQL (Neon Cloud) via SQLAlchemy + psycopg2
• pool_pre_ping=True (detecta conexiones caídas)
• pool_recycle=300 (renueva cada 5 min)
• Cache con @st.cache_resource (una sola conexión en toda la sesión)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57600"/>
            <a:ext cx="11612880" cy="320040"/>
          </a:xfrm>
          <a:prstGeom prst="rect">
            <a:avLst/>
          </a:prstGeom>
          <a:solidFill>
            <a:srgbClr val="14283E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36850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📁 Estructura de Archivos del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11612880" cy="228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40873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app.py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4087368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Entrada principal: login, dashboard de proyecciones y desagregación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02252"/>
            <a:ext cx="11612880" cy="2286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432054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pages/1_Forecast_App.py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4320540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S&amp;OP: exploración histórica, escenarios de drivers y pronóstico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35424"/>
            <a:ext cx="11612880" cy="228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455371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pages/2_Main_Competitors.py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455371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Registro y consulta de competidores directos e indirectos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68596"/>
            <a:ext cx="11612880" cy="2286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7472" y="4786883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pages/3_Register.py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4786883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Auto-registro de usuarios (pendiente de aprobación de admin)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01768"/>
            <a:ext cx="11612880" cy="228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" y="502005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pages/4_Admin.py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5020056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Aprobación de usuarios y gestión de roles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234940"/>
            <a:ext cx="11612880" cy="2286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5253227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forecasting_engine.py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9232" y="5253227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Motor ML: features, Walk-Forward CV, forecast dinámico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68112"/>
            <a:ext cx="11612880" cy="228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" y="548640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db.py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9232" y="5486400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Conexión PostgreSQL (Neon) via SQLAlchemy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701284"/>
            <a:ext cx="11612880" cy="2286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" y="571957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auth.py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9232" y="5719572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Autenticación bcrypt y control de sesión Streamlit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934456"/>
            <a:ext cx="11612880" cy="228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7472" y="595274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database_setup.py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9232" y="5952744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DDL: creación de las 9 tablas de la BD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6167628"/>
            <a:ext cx="11612880" cy="2286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7472" y="618591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load_initial_data.py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99232" y="6185916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Carga inicial de industria.xlsx y variables.xlsx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400800"/>
            <a:ext cx="11612880" cy="2286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641908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Subir_mes.py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9232" y="6419088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CLI para actualización mensual con verificación de sumas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6633972"/>
            <a:ext cx="11612880" cy="228600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47472" y="66522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sidebar.py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6652260"/>
            <a:ext cx="8778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Componente de menú lateral de navegación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3A5A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3108</Words>
  <Application>Microsoft Office PowerPoint</Application>
  <PresentationFormat>Personalizado</PresentationFormat>
  <Paragraphs>277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Stalin Benjamin Bonilla Frutos</cp:lastModifiedBy>
  <cp:revision>1</cp:revision>
  <dcterms:created xsi:type="dcterms:W3CDTF">2013-01-27T09:14:16Z</dcterms:created>
  <dcterms:modified xsi:type="dcterms:W3CDTF">2026-04-20T20:32:34Z</dcterms:modified>
  <cp:category/>
</cp:coreProperties>
</file>